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023360" cy="4023360"/>
          </a:xfrm>
          <a:prstGeom prst="ellipse">
            <a:avLst/>
          </a:prstGeom>
          <a:solidFill>
            <a:srgbClr val="F4F7F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CSE445 Final Project Presentation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: 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78561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64845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Shawlin Salit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0" y="36484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2212906042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224528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0873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Ridita Afrin Riya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49440" y="4087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2211622042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663440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526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Mubtasim Fuad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4944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2131135642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510235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9651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Faiyazul Islam Rimon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49440" y="4965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2231898042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5541264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4041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Nazibul Islam Nabil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49440" y="54041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2222456042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FAIYAZUL ISLAM RIMON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2231898042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Introduction &amp; Data Loading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5 distinct animal species (Cat, Cow, Dog, Lamb, Zebra).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1508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9212"/>
            <a:ext cx="1072591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utilized a perfectly balanced dataset of 500 images (100 per class).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92424"/>
            <a:ext cx="10725912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Mechanism: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were loaded in micro-batches of 32 to prevent memory overflow. I strictly enforced shuffle=False during loading to guarantee that our extracted mathematical features perfectly aligned with their correct animal labels.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FAIYAZUL ISLAM RIMON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2231898042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Feature Extraction (VGG16)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models cannot natively understand shapes or fur from raw pixels.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1508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9212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utilized the pre-trained VGG16 Neural Network, removing its classification head to act purely as a spatial scanner.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35324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53028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Pooling: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mathematical operation compressed every raw image into a highly dense, 512-Dimensional feature vector, preparing the data for classification.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FAIYAZUL ISLAM RIMON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2231898042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&amp; Evaluation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Classifier: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implemented a Multinomial Logistic Regression model to classify the 512-D vectors.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9816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prevent the gradient descent algorithm from crashing in such a high-dimensional space, I hyper-tuned the solver by setting max_iter=2000.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13632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Confusion Matrix proved the efficacy of the VGG16 features, showing near-perfect classification with almost zero catastrophic errors.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MUBTASIM FUAD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2131135642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Ensemble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Trees: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Decision Tree is highly prone to memorizing the training data, leading to severe overfitting.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9816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Classifier: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solve this, I constructed a Random Forest Ensemble consisting of 100 completely separate, randomized decision trees.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13632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Voting Mechanism: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testing, all 100 trees look at the 512-D image features and cast a vote. The majority vote wins, which mathematically flattens out variance and errors.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MUBTASIM FUAD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2131135642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 (GridSearchCV)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Strategy: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did not manually guess the best settings for my forest. I implemented GridSearchCV, a brute-force search algorithm.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9816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Grid: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provided the algorithm with a grid of options, including various tree counts (50, 100, 200) and different branch depths.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13632"/>
            <a:ext cx="10725912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Utilizing 5-Fold Cross Validation, the algorithm systematically tested every combination and automatically locked in the most mathematically optimal hyperparameters for my model.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MUBTASIM FUAD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2131135642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No Overfitting (Learning Curves)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Critique: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accuracy on a small dataset often implies the model is just memorizing data.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9816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Defense: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mathematically disproved this by plotting a Learning Curve. After globally shuffling the data, I trained the model incrementally from 10% up to 100% of the data.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13632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my Orange Validation Line perfectly converged with my Blue Training Line, it proves my Random Forest generalized perfectly to new data and did not overfit.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NAZIBUL ISLAM NABIL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2222456042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K-Nearest Neighbors (KNN)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Classifier: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calculating complex statistical boundaries, I implemented a highly robust, non-parametric algorithm called K-Nearest Neighbors (KNN).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9816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does not attempt to draw lines between classes. Instead, it relies purely on the spatial grouping of the 512-Dimensional features extracted by VGG16.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NAZIBUL ISLAM NABIL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2222456042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Metrics in High Dimensions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trying to classify a brand new, unseen image, my algorithm plots it into a massive mathematical space.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9816"/>
            <a:ext cx="10725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calculates the exact Euclidean distance to all the other training images. It then classifies the new animal based on a majority vote from its closest mathematical “neighbors”. Because VGG16 groups similar animals tightly together, KNN is incredibly accurate.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NAZIBUL ISLAM NABIL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2222456042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Report Metrics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Evaluation: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evaluated my model using a rigorous Classification Report rather than just a basic accuracy percentage.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9816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calculated Precision (exactness of the predictions) and Recall (completeness of finding the animals).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95928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13632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model scored between 0.98 and 1.00 across all 5 animals, proving my KNN algorithm had absolutely zero class-imbalance bias.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RIDITA AFRIN RIYA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2211622042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 Classification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Classifier: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utilized a highly efficient probabilistic approach based on Bayes' Theorem.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921508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9212"/>
            <a:ext cx="10725912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Advantage: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distance-based or gradient-based algorithms that require heavy mathematical optimization, Naive Bayes calculates pure probability, making it incredibly fast and computationally lightweight.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RIDITA AFRIN RIYA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2211622042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Gaussian Variant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Naive Bayes algorithms are designed for simple categorical data (Yes/No), but the 512-D features extracted by VGG16 are continuous real numbers.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9816"/>
            <a:ext cx="10725912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Solution: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specifically implemented the Gaussian variant of Naive Bayes.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35324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53028"/>
            <a:ext cx="10725912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calculates the statistical mean and variance of every feature for every animal, and uses the Gaussian (Normal) Distribution curve to predict the highest probability class.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RIDITA AFRIN RIYA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2211622042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Resiliency and Evaluation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advantage of my Gaussian Naive Bayes model is that it required almost zero hyperparameter tuning.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9816"/>
            <a:ext cx="10725912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mathematically verified my model using a Confusion Matrix. The results showed near-perfect diagonals with almost zero catastrophic errors, proving the model was highly resilient even with a strict probabilistic approach.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SHAWLIN SALIT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2212906042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Soft-Voting Classifier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Classifier: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responsible for creating the ultimate “Super Model”. I constructed a unified Hybrid Voting Classifier.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9816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model absorbs multiple base classifying algorithms and unifies their predictive power into a single ensemble mechanism.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SHAWLIN SALIT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2212906042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Soft Voting Mechanism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vs. Soft Voting: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voting simply tallies up the final categorical guesses of the base models. I explicitly configured my ensemble to use Soft Voting instead.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9816"/>
            <a:ext cx="10725912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Probabilities: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model runs the .predict_proba() function on all base algorithms to extract their exact mathematical confidences (e.g., 99% sure it's a Zebra, but only 80% sure).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5653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74236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averages all of these probabilities together and selects the absolute most confident answer, drastically reducing extreme errors.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SHAWLIN SALIT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2212906042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354312" y="502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631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68296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107259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Efficiency: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proves that you do not need supercomputers or massive datasets to perform advanced computer vision.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00584" cy="10058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9816"/>
            <a:ext cx="10725912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Accuracy: </a:t>
            </a:r>
            <a:pPr indent="0" marL="0">
              <a:lnSpc>
                <a:spcPct val="122000"/>
              </a:lnSpc>
              <a:buNone/>
            </a:pPr>
            <a:r>
              <a:rPr lang="en-US" sz="1500" dirty="0">
                <a:solidFill>
                  <a:srgbClr val="2631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Deep Transfer Learning (VGG16) with highly-tuned classical algorithms and Soft Ensemble Voting, we achieved near-perfect accuracy while completely avoiding the pitfalls of overfitting.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6291072"/>
            <a:ext cx="11091672" cy="0"/>
          </a:xfrm>
          <a:prstGeom prst="line">
            <a:avLst/>
          </a:prstGeom>
          <a:noFill/>
          <a:ln w="12700">
            <a:solidFill>
              <a:srgbClr val="E4E9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38251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CSE445 Final Project Presentation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183112" y="63825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7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2026-08-19T20:03:38Z</dcterms:created>
  <dcterms:modified xsi:type="dcterms:W3CDTF">2026-08-19T20:03:38Z</dcterms:modified>
</cp:coreProperties>
</file>